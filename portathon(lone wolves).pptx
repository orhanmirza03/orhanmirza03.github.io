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unito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6" Type="http://schemas.openxmlformats.org/officeDocument/2006/relationships/font" Target="fonts/Nuni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d39fb3315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d39fb3315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39fb33156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d39fb33156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d39fb33156_0_2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d39fb33156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d39fe354f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d39fe354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d39fe354f0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d39fe354f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0" name="Google Shape;13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1" name="Google Shape;1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4" name="Google Shape;1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3" name="Google Shape;1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9" name="Google Shape;14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0" name="Google Shape;15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62" name="Google Shape;16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 type="obj">
  <p:cSld name="OBJEC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3" name="Google Shape;173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jpg"/><Relationship Id="rId5" Type="http://schemas.openxmlformats.org/officeDocument/2006/relationships/image" Target="../media/image4.jp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Customer Centric app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CHALLENGES</a:t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tr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Flexible pricing model requires manual evaluation (TTS)</a:t>
            </a:r>
            <a:endParaRPr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tr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Multiple tightly integrated processes make it difficult to make the system lean</a:t>
            </a:r>
            <a:endParaRPr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tr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Payment’s processing is the major slowdown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The solution is web-based platform to book and manage port services</a:t>
            </a:r>
            <a:endParaRPr/>
          </a:p>
        </p:txBody>
      </p:sp>
      <p:sp>
        <p:nvSpPr>
          <p:cNvPr id="191" name="Google Shape;191;p2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Arial"/>
              <a:buChar char="●"/>
            </a:pPr>
            <a:r>
              <a:rPr lang="tr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Observability - structured reports and insights in to the service</a:t>
            </a:r>
            <a:endParaRPr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Arial"/>
              <a:buChar char="●"/>
            </a:pPr>
            <a:r>
              <a:rPr lang="tr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Provision speed - services can be provided a lot faster</a:t>
            </a:r>
            <a:endParaRPr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Arial"/>
              <a:buChar char="●"/>
            </a:pPr>
            <a:r>
              <a:rPr lang="tr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Services at scale - easier to integrate more, open to external services and collecting platform fee, wider supply chain</a:t>
            </a:r>
            <a:endParaRPr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Arial"/>
              <a:buChar char="●"/>
            </a:pPr>
            <a:r>
              <a:rPr lang="tr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Business process review and optimization</a:t>
            </a:r>
            <a:endParaRPr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Arial"/>
              <a:buChar char="●"/>
            </a:pPr>
            <a:r>
              <a:rPr lang="tr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Service catalogue</a:t>
            </a:r>
            <a:endParaRPr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Arial"/>
              <a:buChar char="●"/>
            </a:pPr>
            <a:r>
              <a:rPr lang="tr"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future vision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/>
        </p:nvSpPr>
        <p:spPr>
          <a:xfrm>
            <a:off x="250986" y="170416"/>
            <a:ext cx="79521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600">
                <a:solidFill>
                  <a:schemeClr val="dk1"/>
                </a:solidFill>
              </a:rPr>
              <a:t>BUSINESS MODEL</a:t>
            </a:r>
            <a:endParaRPr b="1" i="0" sz="11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9"/>
          <p:cNvSpPr/>
          <p:nvPr/>
        </p:nvSpPr>
        <p:spPr>
          <a:xfrm>
            <a:off x="3811050" y="1456013"/>
            <a:ext cx="1495200" cy="85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/>
              <a:t>Platform</a:t>
            </a:r>
            <a:endParaRPr sz="1100"/>
          </a:p>
        </p:txBody>
      </p:sp>
      <p:sp>
        <p:nvSpPr>
          <p:cNvPr id="198" name="Google Shape;198;p29"/>
          <p:cNvSpPr/>
          <p:nvPr/>
        </p:nvSpPr>
        <p:spPr>
          <a:xfrm>
            <a:off x="6132263" y="1456013"/>
            <a:ext cx="1495200" cy="85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/>
              <a:t>Port Authority</a:t>
            </a:r>
            <a:endParaRPr sz="1100"/>
          </a:p>
        </p:txBody>
      </p:sp>
      <p:sp>
        <p:nvSpPr>
          <p:cNvPr id="199" name="Google Shape;199;p29"/>
          <p:cNvSpPr/>
          <p:nvPr/>
        </p:nvSpPr>
        <p:spPr>
          <a:xfrm>
            <a:off x="3811050" y="3439069"/>
            <a:ext cx="1495200" cy="85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/>
              <a:t>Vessel</a:t>
            </a:r>
            <a:endParaRPr sz="1100"/>
          </a:p>
        </p:txBody>
      </p:sp>
      <p:sp>
        <p:nvSpPr>
          <p:cNvPr id="200" name="Google Shape;200;p29"/>
          <p:cNvSpPr/>
          <p:nvPr/>
        </p:nvSpPr>
        <p:spPr>
          <a:xfrm>
            <a:off x="1489838" y="1456013"/>
            <a:ext cx="1495200" cy="85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/>
              <a:t>Service provider</a:t>
            </a:r>
            <a:endParaRPr sz="1100"/>
          </a:p>
        </p:txBody>
      </p:sp>
      <p:cxnSp>
        <p:nvCxnSpPr>
          <p:cNvPr id="201" name="Google Shape;201;p29"/>
          <p:cNvCxnSpPr/>
          <p:nvPr/>
        </p:nvCxnSpPr>
        <p:spPr>
          <a:xfrm>
            <a:off x="3001275" y="1642894"/>
            <a:ext cx="82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29"/>
          <p:cNvSpPr txBox="1"/>
          <p:nvPr/>
        </p:nvSpPr>
        <p:spPr>
          <a:xfrm>
            <a:off x="2984963" y="984394"/>
            <a:ext cx="170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Lists service in port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5087475" y="2718891"/>
            <a:ext cx="12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Requests service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204" name="Google Shape;204;p29"/>
          <p:cNvCxnSpPr>
            <a:stCxn id="199" idx="0"/>
            <a:endCxn id="197" idx="2"/>
          </p:cNvCxnSpPr>
          <p:nvPr/>
        </p:nvCxnSpPr>
        <p:spPr>
          <a:xfrm rot="10800000">
            <a:off x="4558650" y="2310469"/>
            <a:ext cx="0" cy="11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9"/>
          <p:cNvCxnSpPr/>
          <p:nvPr/>
        </p:nvCxnSpPr>
        <p:spPr>
          <a:xfrm rot="10800000">
            <a:off x="5306025" y="1774838"/>
            <a:ext cx="8277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p29"/>
          <p:cNvSpPr txBox="1"/>
          <p:nvPr/>
        </p:nvSpPr>
        <p:spPr>
          <a:xfrm>
            <a:off x="5306175" y="995363"/>
            <a:ext cx="12651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Lists port &amp; services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207" name="Google Shape;207;p29"/>
          <p:cNvCxnSpPr/>
          <p:nvPr/>
        </p:nvCxnSpPr>
        <p:spPr>
          <a:xfrm>
            <a:off x="4158113" y="2319206"/>
            <a:ext cx="0" cy="11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29"/>
          <p:cNvSpPr txBox="1"/>
          <p:nvPr/>
        </p:nvSpPr>
        <p:spPr>
          <a:xfrm>
            <a:off x="2893163" y="2911069"/>
            <a:ext cx="126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Receiving service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209" name="Google Shape;209;p29"/>
          <p:cNvCxnSpPr/>
          <p:nvPr/>
        </p:nvCxnSpPr>
        <p:spPr>
          <a:xfrm>
            <a:off x="2984963" y="2070038"/>
            <a:ext cx="82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9"/>
          <p:cNvSpPr txBox="1"/>
          <p:nvPr/>
        </p:nvSpPr>
        <p:spPr>
          <a:xfrm>
            <a:off x="2984963" y="2219044"/>
            <a:ext cx="170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</a:rPr>
              <a:t>Fulfil service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250988" y="4550119"/>
            <a:ext cx="8615400" cy="48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2100">
                <a:solidFill>
                  <a:schemeClr val="dk1"/>
                </a:solidFill>
              </a:rPr>
              <a:t>transaction based business model, commission fee of 10% paid by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114300"/>
            <a:ext cx="6473498" cy="49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/>
        </p:nvSpPr>
        <p:spPr>
          <a:xfrm>
            <a:off x="54900" y="100700"/>
            <a:ext cx="90342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500">
                <a:solidFill>
                  <a:schemeClr val="dk1"/>
                </a:solidFill>
              </a:rPr>
              <a:t>Why us? All required expertise combined.</a:t>
            </a:r>
            <a:endParaRPr b="1" i="0" sz="900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269213" y="3103031"/>
            <a:ext cx="23634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400">
                <a:solidFill>
                  <a:schemeClr val="dk2"/>
                </a:solidFill>
              </a:rPr>
              <a:t>Dennis Ruske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solidFill>
                  <a:schemeClr val="dk2"/>
                </a:solidFill>
              </a:rPr>
              <a:t>Hamburg, Germany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solidFill>
                  <a:schemeClr val="dk2"/>
                </a:solidFill>
              </a:rPr>
              <a:t>Venture Building &amp; VC @ HHLA Next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solidFill>
                  <a:schemeClr val="dk2"/>
                </a:solidFill>
              </a:rPr>
              <a:t>Former Entrepreneur, Product Lead, Software Engineer</a:t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223" name="Google Shape;223;p31"/>
          <p:cNvPicPr preferRelativeResize="0"/>
          <p:nvPr/>
        </p:nvPicPr>
        <p:blipFill rotWithShape="1">
          <a:blip r:embed="rId3">
            <a:alphaModFix/>
          </a:blip>
          <a:srcRect b="51656" l="13035" r="40741" t="20768"/>
          <a:stretch/>
        </p:blipFill>
        <p:spPr>
          <a:xfrm>
            <a:off x="4376138" y="1207603"/>
            <a:ext cx="1848300" cy="17790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24" name="Google Shape;22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7100" y="1139812"/>
            <a:ext cx="1848300" cy="1848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5" name="Google Shape;225;p31"/>
          <p:cNvPicPr preferRelativeResize="0"/>
          <p:nvPr/>
        </p:nvPicPr>
        <p:blipFill rotWithShape="1">
          <a:blip r:embed="rId5">
            <a:alphaModFix/>
          </a:blip>
          <a:srcRect b="34709" l="50371" r="15090" t="40725"/>
          <a:stretch/>
        </p:blipFill>
        <p:spPr>
          <a:xfrm>
            <a:off x="2486513" y="1263413"/>
            <a:ext cx="1757700" cy="1667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6" name="Google Shape;226;p31"/>
          <p:cNvSpPr txBox="1"/>
          <p:nvPr/>
        </p:nvSpPr>
        <p:spPr>
          <a:xfrm>
            <a:off x="4376138" y="3057731"/>
            <a:ext cx="20010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400">
                <a:solidFill>
                  <a:schemeClr val="dk2"/>
                </a:solidFill>
              </a:rPr>
              <a:t>Bernardas Juzumas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solidFill>
                  <a:schemeClr val="dk2"/>
                </a:solidFill>
              </a:rPr>
              <a:t>Trušeliai, Lithuania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solidFill>
                  <a:schemeClr val="dk2"/>
                </a:solidFill>
              </a:rPr>
              <a:t>IT Engineering, Architecture, process automation and optimization, development, data science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solidFill>
                  <a:schemeClr val="dk2"/>
                </a:solidFill>
              </a:rPr>
              <a:t>,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6377100" y="3103031"/>
            <a:ext cx="2055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400">
                <a:solidFill>
                  <a:schemeClr val="dk2"/>
                </a:solidFill>
              </a:rPr>
              <a:t>Kostas Ereksonas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solidFill>
                  <a:schemeClr val="dk2"/>
                </a:solidFill>
              </a:rPr>
              <a:t>Klaipėda, Lithuania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solidFill>
                  <a:schemeClr val="dk2"/>
                </a:solidFill>
              </a:rPr>
              <a:t>MSc Information Systems Engineering Student at Klaipėda University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228" name="Google Shape;228;p31"/>
          <p:cNvSpPr txBox="1"/>
          <p:nvPr/>
        </p:nvSpPr>
        <p:spPr>
          <a:xfrm>
            <a:off x="2486513" y="3057731"/>
            <a:ext cx="2055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400">
                <a:solidFill>
                  <a:schemeClr val="dk2"/>
                </a:solidFill>
              </a:rPr>
              <a:t>Orkhan Mirzayev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solidFill>
                  <a:schemeClr val="dk2"/>
                </a:solidFill>
              </a:rPr>
              <a:t>Klaipeda, Lithuania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solidFill>
                  <a:schemeClr val="dk2"/>
                </a:solidFill>
              </a:rPr>
              <a:t>MSc Shipping and Port engineering in Klaipeda University,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solidFill>
                  <a:schemeClr val="dk2"/>
                </a:solidFill>
              </a:rPr>
              <a:t>BSc Marine Navigation engineering, Sailor</a:t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229" name="Google Shape;229;p31"/>
          <p:cNvPicPr preferRelativeResize="0"/>
          <p:nvPr/>
        </p:nvPicPr>
        <p:blipFill rotWithShape="1">
          <a:blip r:embed="rId6">
            <a:alphaModFix/>
          </a:blip>
          <a:srcRect b="44891" l="7236" r="7236" t="0"/>
          <a:stretch/>
        </p:blipFill>
        <p:spPr>
          <a:xfrm>
            <a:off x="507619" y="1263413"/>
            <a:ext cx="1757700" cy="1667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